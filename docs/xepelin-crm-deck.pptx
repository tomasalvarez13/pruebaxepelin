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9659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146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CRM para KAMs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Stack y Decisiones de Producto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Técnica GE II — Part 1   ·   Junio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pPr indent="0" marL="0">
              <a:buNone/>
            </a:pPr>
            <a:r>
              <a:rPr lang="en-US" sz="28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Diagrama de Arquitectura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3300984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801368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1243584" y="1746504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Vercel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50976" y="2377440"/>
            <a:ext cx="2752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(App Router)</a:t>
            </a:r>
            <a:endParaRPr lang="en-US" sz="120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Mantine v7 · Recharts</a:t>
            </a:r>
            <a:endParaRPr lang="en-US" sz="120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AuthProvider (JWT + localStorage)</a:t>
            </a:r>
            <a:endParaRPr lang="en-US" sz="120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strict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43984" y="1508760"/>
            <a:ext cx="3300984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18304" y="1801368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15803D"/>
          </a:solidFill>
          <a:ln/>
        </p:spPr>
      </p:sp>
      <p:sp>
        <p:nvSpPr>
          <p:cNvPr id="9" name="Text 7"/>
          <p:cNvSpPr/>
          <p:nvPr/>
        </p:nvSpPr>
        <p:spPr>
          <a:xfrm>
            <a:off x="5047488" y="1746504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Railway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2377440"/>
            <a:ext cx="2752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+ Passport JWT</a:t>
            </a:r>
            <a:endParaRPr lang="en-US" sz="120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5 ORM</a:t>
            </a:r>
            <a:endParaRPr lang="en-US" sz="120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Engine (on-read)</a:t>
            </a:r>
            <a:endParaRPr lang="en-US" sz="120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· ValidationPipe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47888" y="1508760"/>
            <a:ext cx="3300984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22208" y="1801368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C2410C"/>
          </a:solidFill>
          <a:ln/>
        </p:spPr>
      </p:sp>
      <p:sp>
        <p:nvSpPr>
          <p:cNvPr id="13" name="Text 11"/>
          <p:cNvSpPr/>
          <p:nvPr/>
        </p:nvSpPr>
        <p:spPr>
          <a:xfrm>
            <a:off x="8851392" y="1746504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Railway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58784" y="2377440"/>
            <a:ext cx="2752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 · Company</a:t>
            </a:r>
            <a:endParaRPr lang="en-US" sz="120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· Interaction</a:t>
            </a:r>
            <a:endParaRPr lang="en-US" sz="120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compuestos</a:t>
            </a:r>
            <a:endParaRPr lang="en-US" sz="120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Decimal(14,2) financiero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986784" y="2647188"/>
            <a:ext cx="411480" cy="237744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6" name="Shape 14"/>
          <p:cNvSpPr/>
          <p:nvPr/>
        </p:nvSpPr>
        <p:spPr>
          <a:xfrm>
            <a:off x="7790688" y="2647188"/>
            <a:ext cx="411480" cy="237744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4526280"/>
            <a:ext cx="10908792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727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5029200"/>
            <a:ext cx="10268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/auth/login → JWT    GET /me    GET /companies    GET /companies/:id    PATCH /companies/:id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5458968"/>
            <a:ext cx="10268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JWT → Bearer → Guard valida → Service filtra por kamId → Signals computan → Response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CRM · KAMs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72281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pPr indent="0" marL="0">
              <a:buNone/>
            </a:pPr>
            <a:r>
              <a:rPr lang="en-US" sz="28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Stack Elegido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9087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108960"/>
                <a:gridCol w="62453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Tecnología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14 (App Router)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components, file-based routing, deploy instantáneo en Vercel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Mantine v7 + CSS custom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Componentes accesibles, diseño premium estilo Stripe / Linear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Recharts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Declarativa y liviana, ideal para el AreaChart de volumen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NestJS + TypeScript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opinado: DI, módulos, guards y pipes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+ Passport + bcrypt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Stateless, hash de passwords, guard protege cada endpoint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Prisma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Queries type-safe, migraciones declarativas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ACID, Decimal(14,2), enums, índices compuestos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Railway + Vercel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desde GitHub, zero-config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CRM · KAMs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972281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pPr indent="0" marL="0">
              <a:buNone/>
            </a:pPr>
            <a:r>
              <a:rPr lang="en-US" sz="28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Modelo de Datos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2240280" cy="2075688"/>
          </a:xfrm>
          <a:prstGeom prst="roundRect">
            <a:avLst>
              <a:gd name="adj" fmla="val 2643"/>
            </a:avLst>
          </a:prstGeom>
          <a:solidFill>
            <a:srgbClr val="FFFFFF"/>
          </a:solidFill>
          <a:ln w="15875">
            <a:solidFill>
              <a:srgbClr val="4338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783080"/>
            <a:ext cx="2240280" cy="420624"/>
          </a:xfrm>
          <a:prstGeom prst="roundRect">
            <a:avLst>
              <a:gd name="adj" fmla="val 13043"/>
            </a:avLst>
          </a:prstGeom>
          <a:solidFill>
            <a:srgbClr val="4338C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93392"/>
            <a:ext cx="2240280" cy="210312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81965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6384" y="2295144"/>
            <a:ext cx="116494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805026" y="2295144"/>
            <a:ext cx="1030529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 PK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86384" y="2546604"/>
            <a:ext cx="116494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05026" y="2546604"/>
            <a:ext cx="1030529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86384" y="2798064"/>
            <a:ext cx="116494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05026" y="2798064"/>
            <a:ext cx="1030529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unique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86384" y="3049524"/>
            <a:ext cx="116494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805026" y="3049524"/>
            <a:ext cx="1030529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(bcrypt)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86384" y="3300984"/>
            <a:ext cx="116494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805026" y="3300984"/>
            <a:ext cx="1030529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86384" y="3552444"/>
            <a:ext cx="116494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companies[]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520440" y="1325880"/>
            <a:ext cx="3246120" cy="4087368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0440" y="1325880"/>
            <a:ext cx="3246120" cy="420624"/>
          </a:xfrm>
          <a:prstGeom prst="roundRect">
            <a:avLst>
              <a:gd name="adj" fmla="val 13043"/>
            </a:avLst>
          </a:prstGeom>
          <a:solidFill>
            <a:srgbClr val="0E7490"/>
          </a:solidFill>
          <a:ln/>
        </p:spPr>
      </p:sp>
      <p:sp>
        <p:nvSpPr>
          <p:cNvPr id="20" name="Shape 18"/>
          <p:cNvSpPr/>
          <p:nvPr/>
        </p:nvSpPr>
        <p:spPr>
          <a:xfrm>
            <a:off x="3520440" y="1536192"/>
            <a:ext cx="3246120" cy="21031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1" name="Text 19"/>
          <p:cNvSpPr/>
          <p:nvPr/>
        </p:nvSpPr>
        <p:spPr>
          <a:xfrm>
            <a:off x="3666744" y="136245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66744" y="1837944"/>
            <a:ext cx="168798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208422" y="1837944"/>
            <a:ext cx="1493215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 PK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66744" y="2089404"/>
            <a:ext cx="168798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208422" y="2089404"/>
            <a:ext cx="1493215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Kam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66744" y="2340864"/>
            <a:ext cx="168798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legalName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208422" y="2340864"/>
            <a:ext cx="1493215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66744" y="2592324"/>
            <a:ext cx="168798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208422" y="2592324"/>
            <a:ext cx="1493215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unique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66744" y="2843784"/>
            <a:ext cx="168798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/ country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208422" y="2843784"/>
            <a:ext cx="1493215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· CL|MX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66744" y="3095244"/>
            <a:ext cx="168798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208422" y="3095244"/>
            <a:ext cx="1493215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PYME|MID|CORP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666744" y="3346704"/>
            <a:ext cx="168798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lifecycleStage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208422" y="3346704"/>
            <a:ext cx="1493215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666744" y="3598164"/>
            <a:ext cx="168798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208422" y="3598164"/>
            <a:ext cx="1493215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666744" y="3849624"/>
            <a:ext cx="168798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creditLineApproved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208422" y="3849624"/>
            <a:ext cx="1493215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666744" y="4101084"/>
            <a:ext cx="168798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creditLineUsed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208422" y="4101084"/>
            <a:ext cx="1493215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666744" y="4352544"/>
            <a:ext cx="168798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monthlyBilling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208422" y="4352544"/>
            <a:ext cx="1493215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666744" y="4604004"/>
            <a:ext cx="168798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208422" y="4604004"/>
            <a:ext cx="1493215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Text?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666744" y="4855464"/>
            <a:ext cx="168798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onboardedAt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208422" y="4855464"/>
            <a:ext cx="1493215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666744" y="5106924"/>
            <a:ext cx="168798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operations[] · interactions[]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092440" y="1417320"/>
            <a:ext cx="2788920" cy="2075688"/>
          </a:xfrm>
          <a:prstGeom prst="roundRect">
            <a:avLst>
              <a:gd name="adj" fmla="val 2643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92440" y="1417320"/>
            <a:ext cx="2788920" cy="420624"/>
          </a:xfrm>
          <a:prstGeom prst="roundRect">
            <a:avLst>
              <a:gd name="adj" fmla="val 13043"/>
            </a:avLst>
          </a:prstGeom>
          <a:solidFill>
            <a:srgbClr val="15803D"/>
          </a:solidFill>
          <a:ln/>
        </p:spPr>
      </p:sp>
      <p:sp>
        <p:nvSpPr>
          <p:cNvPr id="51" name="Shape 49"/>
          <p:cNvSpPr/>
          <p:nvPr/>
        </p:nvSpPr>
        <p:spPr>
          <a:xfrm>
            <a:off x="8092440" y="1627632"/>
            <a:ext cx="2788920" cy="21031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2" name="Text 50"/>
          <p:cNvSpPr/>
          <p:nvPr/>
        </p:nvSpPr>
        <p:spPr>
          <a:xfrm>
            <a:off x="8238744" y="145389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8238744" y="1929384"/>
            <a:ext cx="145023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9542678" y="1929384"/>
            <a:ext cx="1282903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 PK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238744" y="2180844"/>
            <a:ext cx="145023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companyId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9542678" y="2180844"/>
            <a:ext cx="1282903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Company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238744" y="2432304"/>
            <a:ext cx="145023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9542678" y="2432304"/>
            <a:ext cx="1282903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FACT|CONF|PAGO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8238744" y="2683764"/>
            <a:ext cx="145023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9542678" y="2683764"/>
            <a:ext cx="1282903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Decimal(14,2)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8238744" y="2935224"/>
            <a:ext cx="145023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/ status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9542678" y="2935224"/>
            <a:ext cx="1282903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 / Enum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8238744" y="3186684"/>
            <a:ext cx="145023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daysPastDue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9542678" y="3186684"/>
            <a:ext cx="1282903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8092440" y="3703320"/>
            <a:ext cx="2788920" cy="1824228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092440" y="3703320"/>
            <a:ext cx="2788920" cy="420624"/>
          </a:xfrm>
          <a:prstGeom prst="roundRect">
            <a:avLst>
              <a:gd name="adj" fmla="val 13043"/>
            </a:avLst>
          </a:prstGeom>
          <a:solidFill>
            <a:srgbClr val="7C3AED"/>
          </a:solidFill>
          <a:ln/>
        </p:spPr>
      </p:sp>
      <p:sp>
        <p:nvSpPr>
          <p:cNvPr id="67" name="Shape 65"/>
          <p:cNvSpPr/>
          <p:nvPr/>
        </p:nvSpPr>
        <p:spPr>
          <a:xfrm>
            <a:off x="8092440" y="3913632"/>
            <a:ext cx="2788920" cy="2103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8" name="Text 66"/>
          <p:cNvSpPr/>
          <p:nvPr/>
        </p:nvSpPr>
        <p:spPr>
          <a:xfrm>
            <a:off x="8238744" y="373989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8238744" y="4215384"/>
            <a:ext cx="145023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9542678" y="4215384"/>
            <a:ext cx="1282903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 PK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8238744" y="4466844"/>
            <a:ext cx="145023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companyId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9542678" y="4466844"/>
            <a:ext cx="1282903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Company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8238744" y="4718304"/>
            <a:ext cx="145023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9542678" y="4718304"/>
            <a:ext cx="1282903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WA|CALL|EMAIL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8238744" y="4969764"/>
            <a:ext cx="145023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9542678" y="4969764"/>
            <a:ext cx="1282903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8238744" y="5221224"/>
            <a:ext cx="145023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9542678" y="5221224"/>
            <a:ext cx="1282903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2880360" y="2820924"/>
            <a:ext cx="64008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80" name="Text 78"/>
          <p:cNvSpPr/>
          <p:nvPr/>
        </p:nvSpPr>
        <p:spPr>
          <a:xfrm>
            <a:off x="2971800" y="25283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766560" y="2455164"/>
            <a:ext cx="132588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82" name="Text 80"/>
          <p:cNvSpPr/>
          <p:nvPr/>
        </p:nvSpPr>
        <p:spPr>
          <a:xfrm>
            <a:off x="7200900" y="216255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6766560" y="4615434"/>
            <a:ext cx="132588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84" name="Text 82"/>
          <p:cNvSpPr/>
          <p:nvPr/>
        </p:nvSpPr>
        <p:spPr>
          <a:xfrm>
            <a:off x="7200900" y="432282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640080" y="5989320"/>
            <a:ext cx="10908792" cy="36576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68680" y="5989320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@@index([kamId])   ·   @@index([companyId, date])   ·   Decimal(14,2) para todos los montos financieros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pPr indent="0" marL="0">
              <a:buNone/>
            </a:pPr>
            <a:r>
              <a:rPr lang="en-US" sz="28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Decisiones de Producto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09344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554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KPIs + tabla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0" y="1554480"/>
            <a:ext cx="5879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rápida de toda la cartera del KAM en una pantalla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066544"/>
            <a:ext cx="1090879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267712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2128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 determinísticas on-read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0" y="2212848"/>
            <a:ext cx="5879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Churn, expansión y prioridad: auditables y reproducibles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724912"/>
            <a:ext cx="1090879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926080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87121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Summary por reglas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0" y="2871216"/>
            <a:ext cx="5879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 un LLM de forma determinística, sin costos de API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1090879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58444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5295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por KAM con JWT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0" y="3529584"/>
            <a:ext cx="5879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KAM solo ve sus empresas; guard en cada endpoint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041648"/>
            <a:ext cx="1090879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24281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4F46E5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41879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de volumen 12 meses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0" y="4187952"/>
            <a:ext cx="5879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Tendencias visuales para detectar caídas de actividad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700016"/>
            <a:ext cx="1090879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901184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4F46E5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4846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+ timeline de interacciones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69280" y="4846320"/>
            <a:ext cx="5879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accionable, no solo un dashboard de métricas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5358384"/>
            <a:ext cx="1090879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5559552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4F46E5"/>
          </a:solidFill>
          <a:ln/>
        </p:spPr>
      </p:sp>
      <p:sp>
        <p:nvSpPr>
          <p:cNvPr id="28" name="Text 26"/>
          <p:cNvSpPr/>
          <p:nvPr/>
        </p:nvSpPr>
        <p:spPr>
          <a:xfrm>
            <a:off x="1097280" y="55046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premium CSS-first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669280" y="5504688"/>
            <a:ext cx="5879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/ Linear / Mercury como referencia visual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CRM · KAMs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72281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pPr indent="0" marL="0">
              <a:buNone/>
            </a:pPr>
            <a:r>
              <a:rPr lang="en-US" sz="280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Qué Dejamos Fuera y Por Qué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90879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828800"/>
                <a:gridCol w="62453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Resumen con LLM real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ya listo con campos aiSummary / recommendedActions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 de interacciones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Deliberado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priorizó el motor de señales y el pulido visual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Refresh token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Simplificado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de 8h es suficiente para una prueba técnica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unitarios / e2e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priorizó feature-completeness sobre cobertura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Paginación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Innecesario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~5-6 empresas por KAM, no hace falta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Búsqueda por texto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Deliberado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filtros existentes cubren carteras de ~10 empresas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Responsive mobile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KAM trabaja principalmente desde laptop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5806440"/>
            <a:ext cx="10908792" cy="502920"/>
          </a:xfrm>
          <a:prstGeom prst="roundRect">
            <a:avLst>
              <a:gd name="adj" fmla="val 10909"/>
            </a:avLst>
          </a:prstGeom>
          <a:solidFill>
            <a:srgbClr val="EEF2FF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580644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priorizó lo que demuestra criterio de producto por sobre la completitud técnica.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CRM · KAMs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722815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Xepelin · CRM KAMs</dc:creator>
  <cp:lastModifiedBy>Xepelin · CRM KAMs</cp:lastModifiedBy>
  <cp:revision>1</cp:revision>
  <dcterms:created xsi:type="dcterms:W3CDTF">2026-06-11T17:16:19Z</dcterms:created>
  <dcterms:modified xsi:type="dcterms:W3CDTF">2026-06-11T17:16:19Z</dcterms:modified>
</cp:coreProperties>
</file>